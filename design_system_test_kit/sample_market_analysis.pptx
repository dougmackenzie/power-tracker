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Oklahoma Power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Arial"/>
              </a:defRPr>
            </a:pPr>
            <a:r>
              <a:t>Data Center Development Opportunity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Market Drivers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666666"/>
                </a:solidFill>
                <a:latin typeface="Arial"/>
              </a:defRPr>
            </a:pPr>
            <a:r>
              <a:t>• Hyperscaler demand exceeding 2 GW annually in Southwest region</a:t>
            </a:r>
          </a:p>
          <a:p>
            <a:pPr>
              <a:spcAft>
                <a:spcPts val="1200"/>
              </a:spcAft>
              <a:defRPr sz="1400">
                <a:solidFill>
                  <a:srgbClr val="666666"/>
                </a:solidFill>
                <a:latin typeface="Arial"/>
              </a:defRPr>
            </a:pPr>
            <a:r>
              <a:t>• Oklahoma positioned as low-cost alternative to Texas ERCOT</a:t>
            </a:r>
          </a:p>
          <a:p>
            <a:pPr>
              <a:spcAft>
                <a:spcPts val="1200"/>
              </a:spcAft>
              <a:defRPr sz="1400">
                <a:solidFill>
                  <a:srgbClr val="666666"/>
                </a:solidFill>
                <a:latin typeface="Arial"/>
              </a:defRPr>
            </a:pPr>
            <a:r>
              <a:t>• SPP capacity surplus provides competitive pricing through 2027</a:t>
            </a:r>
          </a:p>
          <a:p>
            <a:pPr>
              <a:spcAft>
                <a:spcPts val="1200"/>
              </a:spcAft>
              <a:defRPr sz="1400">
                <a:solidFill>
                  <a:srgbClr val="666666"/>
                </a:solidFill>
                <a:latin typeface="Arial"/>
              </a:defRPr>
            </a:pPr>
            <a:r>
              <a:t>• State incentives: 5-year property tax abatement for data centers</a:t>
            </a:r>
          </a:p>
          <a:p>
            <a:pPr>
              <a:spcAft>
                <a:spcPts val="1200"/>
              </a:spcAft>
              <a:defRPr sz="1400">
                <a:solidFill>
                  <a:srgbClr val="666666"/>
                </a:solidFill>
                <a:latin typeface="Arial"/>
              </a:defRPr>
            </a:pPr>
            <a:r>
              <a:t>• Renewable energy: Wind capacity supports sustainability mandates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Oklahoma 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2468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E31937"/>
                </a:solidFill>
                <a:latin typeface="Arial"/>
              </a:defRPr>
            </a:pPr>
            <a:r>
              <a:t>$0.045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  <a:latin typeface="Arial"/>
              </a:defRPr>
            </a:pPr>
            <a:r>
              <a:t>Avg $/kWh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2286000"/>
            <a:ext cx="2468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E31937"/>
                </a:solidFill>
                <a:latin typeface="Arial"/>
              </a:defRPr>
            </a:pPr>
            <a:r>
              <a:t>15%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3474720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  <a:latin typeface="Arial"/>
              </a:defRPr>
            </a:pPr>
            <a:r>
              <a:t>Below 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286000"/>
            <a:ext cx="2468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E31937"/>
                </a:solidFill>
                <a:latin typeface="Arial"/>
              </a:defRPr>
            </a:pPr>
            <a:r>
              <a:t>2.8 GW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3474720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  <a:latin typeface="Arial"/>
              </a:defRPr>
            </a:pPr>
            <a:r>
              <a:t>Wind Capacity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2286000"/>
            <a:ext cx="2468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E31937"/>
                </a:solidFill>
                <a:latin typeface="Arial"/>
              </a:defRPr>
            </a:pPr>
            <a: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3474720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  <a:latin typeface="Arial"/>
              </a:defRPr>
            </a:pPr>
            <a:r>
              <a:t>Grid Rating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Utility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Utility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Territory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Capacity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Lead Time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Rating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PSO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East 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24-36 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OG&amp;E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Central OK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18-24 mo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A+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SWEPCO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SE 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30-42 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B+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Recommended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666666"/>
                </a:solidFill>
                <a:latin typeface="Arial"/>
              </a:defRPr>
            </a:pPr>
            <a:r>
              <a:t>• Focus on PSO territory for near-term opportunities</a:t>
            </a:r>
          </a:p>
          <a:p>
            <a:pPr>
              <a:spcAft>
                <a:spcPts val="1200"/>
              </a:spcAft>
              <a:defRPr sz="1400">
                <a:solidFill>
                  <a:srgbClr val="666666"/>
                </a:solidFill>
                <a:latin typeface="Arial"/>
              </a:defRPr>
            </a:pPr>
            <a:r>
              <a:t>• Target 345kV substations with headroom &gt; 300 MW</a:t>
            </a:r>
          </a:p>
          <a:p>
            <a:pPr>
              <a:spcAft>
                <a:spcPts val="1200"/>
              </a:spcAft>
              <a:defRPr sz="1400">
                <a:solidFill>
                  <a:srgbClr val="666666"/>
                </a:solidFill>
                <a:latin typeface="Arial"/>
              </a:defRPr>
            </a:pPr>
            <a:r>
              <a:t>• Pursue sites within 10 miles of existing transmission</a:t>
            </a:r>
          </a:p>
          <a:p>
            <a:pPr>
              <a:spcAft>
                <a:spcPts val="1200"/>
              </a:spcAft>
              <a:defRPr sz="1400">
                <a:solidFill>
                  <a:srgbClr val="666666"/>
                </a:solidFill>
                <a:latin typeface="Arial"/>
              </a:defRPr>
            </a:pPr>
            <a:r>
              <a:t>• Engage OG&amp;E for 2027+ pipeline development</a:t>
            </a:r>
          </a:p>
          <a:p>
            <a:pPr>
              <a:spcAft>
                <a:spcPts val="1200"/>
              </a:spcAft>
              <a:defRPr sz="1400">
                <a:solidFill>
                  <a:srgbClr val="666666"/>
                </a:solidFill>
                <a:latin typeface="Arial"/>
              </a:defRPr>
            </a:pPr>
            <a:r>
              <a:t>• Avoid SWEPCO territory due to extended timelines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