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Rogers County Site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Arial"/>
              </a:defRPr>
            </a:pPr>
            <a:r>
              <a:t>Oklahoma - 500 MW Opportunity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Site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666666"/>
                </a:solidFill>
                <a:latin typeface="Arial"/>
              </a:defRPr>
            </a:pPr>
            <a:r>
              <a:t>• Location: Rogers County, Oklahoma</a:t>
            </a:r>
          </a:p>
          <a:p>
            <a:pPr>
              <a:spcAft>
                <a:spcPts val="1200"/>
              </a:spcAft>
              <a:defRPr sz="1400">
                <a:solidFill>
                  <a:srgbClr val="666666"/>
                </a:solidFill>
                <a:latin typeface="Arial"/>
              </a:defRPr>
            </a:pPr>
            <a:r>
              <a:t>• Target Capacity: 500 MW</a:t>
            </a:r>
          </a:p>
          <a:p>
            <a:pPr>
              <a:spcAft>
                <a:spcPts val="1200"/>
              </a:spcAft>
              <a:defRPr sz="1400">
                <a:solidFill>
                  <a:srgbClr val="666666"/>
                </a:solidFill>
                <a:latin typeface="Arial"/>
              </a:defRPr>
            </a:pPr>
            <a:r>
              <a:t>• Land Status: PSA in negotiation</a:t>
            </a:r>
          </a:p>
          <a:p>
            <a:pPr>
              <a:spcAft>
                <a:spcPts val="1200"/>
              </a:spcAft>
              <a:defRPr sz="1400">
                <a:solidFill>
                  <a:srgbClr val="666666"/>
                </a:solidFill>
                <a:latin typeface="Arial"/>
              </a:defRPr>
            </a:pPr>
            <a:r>
              <a:t>• Interconnection: Queue position #247 at Tulsa North 345kV</a:t>
            </a:r>
          </a:p>
          <a:p>
            <a:pPr>
              <a:spcAft>
                <a:spcPts val="1200"/>
              </a:spcAft>
              <a:defRPr sz="1400">
                <a:solidFill>
                  <a:srgbClr val="666666"/>
                </a:solidFill>
                <a:latin typeface="Arial"/>
              </a:defRPr>
            </a:pPr>
            <a:r>
              <a:t>• Water: Municipal water available within 2 miles</a:t>
            </a:r>
          </a:p>
          <a:p>
            <a:pPr>
              <a:spcAft>
                <a:spcPts val="1200"/>
              </a:spcAft>
              <a:defRPr sz="1400">
                <a:solidFill>
                  <a:srgbClr val="666666"/>
                </a:solidFill>
                <a:latin typeface="Arial"/>
              </a:defRPr>
            </a:pPr>
            <a:r>
              <a:t>• Fiber: Multiple carriers present along Highway 66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Key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246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E31937"/>
                </a:solidFill>
                <a:latin typeface="Arial"/>
              </a:defRPr>
            </a:pPr>
            <a:r>
              <a:t>500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  <a:latin typeface="Arial"/>
              </a:defRPr>
            </a:pPr>
            <a:r>
              <a:t>Target MW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2286000"/>
            <a:ext cx="246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E31937"/>
                </a:solidFill>
                <a:latin typeface="Arial"/>
              </a:defRPr>
            </a:pPr>
            <a:r>
              <a:t>2028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347472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  <a:latin typeface="Arial"/>
              </a:defRPr>
            </a:pPr>
            <a:r>
              <a:t>Energization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286000"/>
            <a:ext cx="246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E31937"/>
                </a:solidFill>
                <a:latin typeface="Arial"/>
              </a:defRPr>
            </a:pPr>
            <a:r>
              <a:t>$45M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347472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  <a:latin typeface="Arial"/>
              </a:defRPr>
            </a:pPr>
            <a:r>
              <a:t>Land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2286000"/>
            <a:ext cx="246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E31937"/>
                </a:solidFill>
                <a:latin typeface="Arial"/>
              </a:defRPr>
            </a:pPr>
            <a:r>
              <a:t>320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347472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  <a:latin typeface="Arial"/>
              </a:defRPr>
            </a:pPr>
            <a:r>
              <a:t>Acres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Timeline Milestones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Target Date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Site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Q2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In Progress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SIS Complete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Q3 2025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Pending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Facilities 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Q1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Scheduled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IA Execution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Q3 2026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Future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Energization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Q2 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Future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Risk Factors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666666"/>
                </a:solidFill>
                <a:latin typeface="Arial"/>
              </a:defRPr>
            </a:pPr>
            <a:r>
              <a:t>• Queue congestion - PSO processing delays reported</a:t>
            </a:r>
          </a:p>
          <a:p>
            <a:pPr>
              <a:spcAft>
                <a:spcPts val="1200"/>
              </a:spcAft>
              <a:defRPr sz="1400">
                <a:solidFill>
                  <a:srgbClr val="666666"/>
                </a:solidFill>
                <a:latin typeface="Arial"/>
              </a:defRPr>
            </a:pPr>
            <a:r>
              <a:t>• Transformer lead time extending to 4+ years</a:t>
            </a:r>
          </a:p>
          <a:p>
            <a:pPr>
              <a:spcAft>
                <a:spcPts val="1200"/>
              </a:spcAft>
              <a:defRPr sz="1400">
                <a:solidFill>
                  <a:srgbClr val="666666"/>
                </a:solidFill>
                <a:latin typeface="Arial"/>
              </a:defRPr>
            </a:pPr>
            <a:r>
              <a:t>• County zoning requires special use permit</a:t>
            </a:r>
          </a:p>
          <a:p>
            <a:pPr>
              <a:spcAft>
                <a:spcPts val="1200"/>
              </a:spcAft>
              <a:defRPr sz="1400">
                <a:solidFill>
                  <a:srgbClr val="666666"/>
                </a:solidFill>
                <a:latin typeface="Arial"/>
              </a:defRPr>
            </a:pPr>
            <a:r>
              <a:t>• Competing projects in area may impact capacity allocation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